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6" r:id="rId15"/>
    <p:sldId id="269" r:id="rId16"/>
    <p:sldId id="275" r:id="rId17"/>
  </p:sldIdLst>
  <p:sldSz cx="9144000" cy="5143500" type="screen16x9"/>
  <p:notesSz cx="6858000" cy="9144000"/>
  <p:embeddedFontLst>
    <p:embeddedFont>
      <p:font typeface="Agency FB" panose="020B0503020202020204" pitchFamily="34" charset="0"/>
      <p:regular r:id="rId19"/>
      <p:bold r:id="rId20"/>
    </p:embeddedFont>
    <p:embeddedFont>
      <p:font typeface="Roboto Mono" panose="00000009000000000000" pitchFamily="49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239BCE2-4DEC-4989-BEBD-186D142F4A96}">
  <a:tblStyle styleId="{8239BCE2-4DEC-4989-BEBD-186D142F4A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01C7660-DE01-4B59-B7BE-A7B3ABD4680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BE70DB3-858B-48B7-92F7-4521B643A240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63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63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63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63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63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63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58aafecdc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58aafecdcc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58aafecdcc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58aafecdcc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8aafecdcc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8aafecdcc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8aafecdc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8aafecdc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8aafecdcc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8aafecdcc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8aafecdc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8aafecdcc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8aafecdcc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8aafecdcc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8aafecdcc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8aafecdcc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58b9a569ef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58b9a569ef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86e440b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586e440b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86e440b9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586e440b9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86e440b9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86e440b9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8b9a569ef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58b9a569ef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ysionet.org/physiobank/database/mitdb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hysionet.org/physiobank/database/ptbdb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F81C52-7135-2B7E-71EF-AD50DDDF4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9545"/>
            <a:ext cx="9144000" cy="40593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259EB7-B6BD-B6BD-FFC5-B4F01C50C32A}"/>
              </a:ext>
            </a:extLst>
          </p:cNvPr>
          <p:cNvSpPr txBox="1"/>
          <p:nvPr/>
        </p:nvSpPr>
        <p:spPr>
          <a:xfrm>
            <a:off x="1115292" y="1841350"/>
            <a:ext cx="65116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  <a:cs typeface="Aldhabi" panose="020F0502020204030204" pitchFamily="2" charset="-78"/>
              </a:rPr>
              <a:t>Heartbeat Classification</a:t>
            </a:r>
            <a:endParaRPr lang="de-DE" sz="4000" b="1" dirty="0">
              <a:solidFill>
                <a:schemeClr val="tx1">
                  <a:lumMod val="75000"/>
                  <a:lumOff val="25000"/>
                </a:schemeClr>
              </a:solidFill>
              <a:latin typeface="Agency FB" panose="020B0503020202020204" pitchFamily="34" charset="0"/>
              <a:cs typeface="Aldhabi" panose="020F0502020204030204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AD5BF-64D6-5950-D49D-12F9395AA3CC}"/>
              </a:ext>
            </a:extLst>
          </p:cNvPr>
          <p:cNvSpPr txBox="1"/>
          <p:nvPr/>
        </p:nvSpPr>
        <p:spPr>
          <a:xfrm>
            <a:off x="3602182" y="2867891"/>
            <a:ext cx="1828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By</a:t>
            </a:r>
          </a:p>
          <a:p>
            <a:pPr algn="ctr"/>
            <a:r>
              <a:rPr lang="en-US" sz="1600" dirty="0">
                <a:sym typeface="Wingdings" panose="05000000000000000000" pitchFamily="2" charset="2"/>
              </a:rPr>
              <a:t>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Qi Bao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Saikot Das Joy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3030685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Project Overview</a:t>
            </a:r>
            <a:endParaRPr b="1" dirty="0"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457200" marR="0" lvl="0" indent="-300037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b="1" dirty="0">
                <a:solidFill>
                  <a:schemeClr val="tx1"/>
                </a:solidFill>
              </a:rPr>
              <a:t>Goal: </a:t>
            </a:r>
            <a:r>
              <a:rPr lang="en" dirty="0">
                <a:solidFill>
                  <a:schemeClr val="tx1"/>
                </a:solidFill>
              </a:rPr>
              <a:t>Automatically classify heart rhythms from ECG signals</a:t>
            </a:r>
            <a:endParaRPr dirty="0">
              <a:solidFill>
                <a:schemeClr val="tx1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</a:endParaRPr>
          </a:p>
          <a:p>
            <a:pPr marL="457200" marR="0" lvl="0" indent="-300037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b="1" dirty="0">
                <a:solidFill>
                  <a:schemeClr val="tx1"/>
                </a:solidFill>
              </a:rPr>
              <a:t>Dataset: </a:t>
            </a:r>
            <a:endParaRPr b="1" dirty="0">
              <a:solidFill>
                <a:schemeClr val="tx1"/>
              </a:solidFill>
            </a:endParaRPr>
          </a:p>
          <a:p>
            <a:pPr marL="914400" marR="0" lvl="1" indent="-28416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7777"/>
              <a:buChar char="○"/>
            </a:pPr>
            <a:r>
              <a:rPr lang="en" sz="1800" dirty="0">
                <a:solidFill>
                  <a:schemeClr val="tx1"/>
                </a:solidFill>
              </a:rPr>
              <a:t>T</a:t>
            </a:r>
            <a:r>
              <a:rPr lang="en" sz="1800" dirty="0">
                <a:solidFill>
                  <a:schemeClr val="tx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 </a:t>
            </a:r>
            <a:r>
              <a:rPr lang="en" sz="1800" dirty="0">
                <a:solidFill>
                  <a:schemeClr val="tx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MIT-BIH Arrhythmia Dataset</a:t>
            </a:r>
            <a:r>
              <a:rPr lang="en" sz="1800" dirty="0">
                <a:solidFill>
                  <a:schemeClr val="tx1"/>
                </a:solidFill>
              </a:rPr>
              <a:t> </a:t>
            </a:r>
            <a:endParaRPr sz="1800" dirty="0">
              <a:solidFill>
                <a:schemeClr val="tx1"/>
              </a:solidFill>
            </a:endParaRPr>
          </a:p>
          <a:p>
            <a:pPr marL="914400" marR="0" lvl="1" indent="-28416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7777"/>
              <a:buChar char="○"/>
            </a:pPr>
            <a:r>
              <a:rPr lang="en" sz="1800" dirty="0">
                <a:solidFill>
                  <a:schemeClr val="tx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PTB Diagnostic ECG Data</a:t>
            </a:r>
            <a:r>
              <a:rPr lang="en" sz="1800" dirty="0">
                <a:solidFill>
                  <a:schemeClr val="tx1"/>
                </a:solidFill>
              </a:rPr>
              <a:t>set</a:t>
            </a:r>
            <a:endParaRPr sz="1800" dirty="0">
              <a:solidFill>
                <a:schemeClr val="tx1"/>
              </a:solidFill>
            </a:endParaRPr>
          </a:p>
          <a:p>
            <a:pPr marL="914400" marR="0" lvl="1" indent="-28416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7777"/>
              <a:buChar char="○"/>
            </a:pPr>
            <a:r>
              <a:rPr lang="en" sz="1800" dirty="0">
                <a:solidFill>
                  <a:schemeClr val="tx1"/>
                </a:solidFill>
              </a:rPr>
              <a:t>Data sets have been preprocessed by the provider and has undergone normalization. Each ECG signal is fully annotated</a:t>
            </a:r>
            <a:endParaRPr sz="1800" dirty="0">
              <a:solidFill>
                <a:schemeClr val="tx1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</a:endParaRPr>
          </a:p>
          <a:p>
            <a:pPr marL="457200" marR="0" lvl="0" indent="-300037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b="1" dirty="0">
                <a:solidFill>
                  <a:schemeClr val="tx1"/>
                </a:solidFill>
              </a:rPr>
              <a:t>Tasks</a:t>
            </a:r>
            <a:endParaRPr b="1" dirty="0">
              <a:solidFill>
                <a:schemeClr val="tx1"/>
              </a:solidFill>
            </a:endParaRPr>
          </a:p>
          <a:p>
            <a:pPr marL="914400" marR="0" lvl="1" indent="-28416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7777"/>
              <a:buChar char="○"/>
            </a:pPr>
            <a:r>
              <a:rPr lang="en" sz="1800" dirty="0">
                <a:solidFill>
                  <a:schemeClr val="tx1"/>
                </a:solidFill>
              </a:rPr>
              <a:t>Compare the performance of various models on the given dataset, with a particular focus on the comparison between ensemble tree models and neural network models.</a:t>
            </a:r>
            <a:br>
              <a:rPr lang="en" sz="1800" dirty="0">
                <a:solidFill>
                  <a:schemeClr val="tx1"/>
                </a:solidFill>
              </a:rPr>
            </a:br>
            <a:endParaRPr sz="1800" dirty="0">
              <a:solidFill>
                <a:schemeClr val="tx1"/>
              </a:solidFill>
            </a:endParaRPr>
          </a:p>
          <a:p>
            <a:pPr marL="914400" marR="0" lvl="1" indent="-28416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7777"/>
              <a:buChar char="○"/>
            </a:pPr>
            <a:r>
              <a:rPr lang="en" sz="1800" dirty="0">
                <a:solidFill>
                  <a:schemeClr val="tx1"/>
                </a:solidFill>
              </a:rPr>
              <a:t>Attempt transfer learning by applying a model trained on a large dataset to a smaller dataset and demonstrate the results.</a:t>
            </a:r>
            <a:br>
              <a:rPr lang="en" sz="1800" dirty="0">
                <a:solidFill>
                  <a:schemeClr val="tx1"/>
                </a:solidFill>
              </a:rPr>
            </a:br>
            <a:endParaRPr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138518" y="21910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MIT BIH Data Preprocessing</a:t>
            </a:r>
            <a:endParaRPr dirty="0"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497200" cy="13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" sz="1100" dirty="0">
                <a:solidFill>
                  <a:srgbClr val="3C4043"/>
                </a:solidFill>
              </a:rPr>
              <a:t>Number of Samples: 109446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" sz="1100" dirty="0">
                <a:solidFill>
                  <a:srgbClr val="3C4043"/>
                </a:solidFill>
              </a:rPr>
              <a:t>Number of Categories: 5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" sz="1100" dirty="0">
                <a:solidFill>
                  <a:srgbClr val="3C4043"/>
                </a:solidFill>
              </a:rPr>
              <a:t>Sampling Frequency: 125Hz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" sz="1100" dirty="0">
                <a:solidFill>
                  <a:srgbClr val="3C4043"/>
                </a:solidFill>
              </a:rPr>
              <a:t>Classes: ['N': 0, 'S': 1, 'V': 2, 'F': 3, 'Q': 4]</a:t>
            </a:r>
            <a:endParaRPr sz="1100" dirty="0">
              <a:solidFill>
                <a:srgbClr val="3C4043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rgbClr val="3C4043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 dirty="0">
              <a:solidFill>
                <a:srgbClr val="3C4043"/>
              </a:solidFill>
            </a:endParaRPr>
          </a:p>
        </p:txBody>
      </p:sp>
      <p:graphicFrame>
        <p:nvGraphicFramePr>
          <p:cNvPr id="67" name="Google Shape;67;p15"/>
          <p:cNvGraphicFramePr/>
          <p:nvPr>
            <p:extLst>
              <p:ext uri="{D42A27DB-BD31-4B8C-83A1-F6EECF244321}">
                <p14:modId xmlns:p14="http://schemas.microsoft.com/office/powerpoint/2010/main" val="3152820872"/>
              </p:ext>
            </p:extLst>
          </p:nvPr>
        </p:nvGraphicFramePr>
        <p:xfrm>
          <a:off x="3549000" y="895251"/>
          <a:ext cx="5110118" cy="1590724"/>
        </p:xfrm>
        <a:graphic>
          <a:graphicData uri="http://schemas.openxmlformats.org/drawingml/2006/table">
            <a:tbl>
              <a:tblPr>
                <a:noFill/>
                <a:tableStyleId>{8239BCE2-4DEC-4989-BEBD-186D142F4A96}</a:tableStyleId>
              </a:tblPr>
              <a:tblGrid>
                <a:gridCol w="882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9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51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Category</a:t>
                      </a:r>
                      <a:endParaRPr sz="10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Code</a:t>
                      </a:r>
                      <a:endParaRPr sz="10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Meaning</a:t>
                      </a:r>
                      <a:endParaRPr sz="10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Indication</a:t>
                      </a:r>
                      <a:endParaRPr sz="10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</a:t>
                      </a:r>
                      <a:endParaRPr sz="10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Normal beat</a:t>
                      </a:r>
                      <a:endParaRPr sz="10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Healthy</a:t>
                      </a:r>
                      <a:endParaRPr sz="10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22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</a:t>
                      </a:r>
                      <a:endParaRPr sz="10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Supraventricular ectopic beat</a:t>
                      </a:r>
                      <a:endParaRPr sz="10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Pathological</a:t>
                      </a:r>
                      <a:endParaRPr sz="10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</a:t>
                      </a:r>
                      <a:endParaRPr sz="10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Ventricular ectopic beat</a:t>
                      </a:r>
                      <a:endParaRPr sz="10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Pathological</a:t>
                      </a:r>
                      <a:endParaRPr sz="10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Fusion beat</a:t>
                      </a:r>
                      <a:endParaRPr sz="10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Pathological</a:t>
                      </a:r>
                      <a:endParaRPr sz="10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Q</a:t>
                      </a:r>
                      <a:endParaRPr sz="10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Unknown beat</a:t>
                      </a:r>
                      <a:endParaRPr sz="10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Potentially pathological</a:t>
                      </a:r>
                      <a:endParaRPr sz="1000" dirty="0"/>
                    </a:p>
                  </a:txBody>
                  <a:tcPr marL="0" marR="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18" y="2571750"/>
            <a:ext cx="5148546" cy="254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08E2E5-613C-0D3D-50CB-8AFB6F967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6525" y="2764215"/>
            <a:ext cx="3003631" cy="21601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39129" y="20553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MIT BIH Data Intuition</a:t>
            </a:r>
            <a:endParaRPr b="1" dirty="0"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900" y="3669768"/>
            <a:ext cx="3579637" cy="1379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0205" y="2256308"/>
            <a:ext cx="3579645" cy="1379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900" y="2289907"/>
            <a:ext cx="3579645" cy="1379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804008"/>
            <a:ext cx="3579645" cy="1379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5900" y="910050"/>
            <a:ext cx="3579645" cy="1379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34D501-16A8-6B18-085A-17F39D07B5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6228" y="3708609"/>
            <a:ext cx="3405417" cy="12293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02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MIT BIH Resampling</a:t>
            </a:r>
            <a:endParaRPr b="1" dirty="0"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311700" y="1116925"/>
            <a:ext cx="4549200" cy="198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Target: around 20000 entries for each class, under-sampling for N, over-sampling for other classes.</a:t>
            </a:r>
            <a:endParaRPr sz="110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Under-sampling:</a:t>
            </a:r>
            <a:endParaRPr sz="110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RandomUnderSampler</a:t>
            </a:r>
            <a:endParaRPr sz="110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Over-sampling:</a:t>
            </a:r>
            <a:endParaRPr sz="110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SMOTE-Tomek to 20000 each class</a:t>
            </a:r>
            <a:endParaRPr sz="110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GAN to 15000 each class due to separate val set</a:t>
            </a:r>
            <a:endParaRPr sz="1100"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3400" y="363600"/>
            <a:ext cx="2588900" cy="143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4129" y="1858363"/>
            <a:ext cx="2487432" cy="137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3400" y="3297025"/>
            <a:ext cx="2531474" cy="137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/>
          <p:nvPr/>
        </p:nvSpPr>
        <p:spPr>
          <a:xfrm>
            <a:off x="5070025" y="445025"/>
            <a:ext cx="956100" cy="268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Raw-Data</a:t>
            </a:r>
            <a:endParaRPr sz="800"/>
          </a:p>
        </p:txBody>
      </p:sp>
      <p:sp>
        <p:nvSpPr>
          <p:cNvPr id="89" name="Google Shape;89;p17"/>
          <p:cNvSpPr/>
          <p:nvPr/>
        </p:nvSpPr>
        <p:spPr>
          <a:xfrm>
            <a:off x="5074100" y="883663"/>
            <a:ext cx="956100" cy="268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SMOTE-Tomek</a:t>
            </a:r>
            <a:endParaRPr sz="800"/>
          </a:p>
        </p:txBody>
      </p:sp>
      <p:cxnSp>
        <p:nvCxnSpPr>
          <p:cNvPr id="90" name="Google Shape;90;p17"/>
          <p:cNvCxnSpPr>
            <a:endCxn id="89" idx="0"/>
          </p:cNvCxnSpPr>
          <p:nvPr/>
        </p:nvCxnSpPr>
        <p:spPr>
          <a:xfrm flipH="1">
            <a:off x="5552150" y="707263"/>
            <a:ext cx="6000" cy="17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" name="Google Shape;91;p17"/>
          <p:cNvSpPr/>
          <p:nvPr/>
        </p:nvSpPr>
        <p:spPr>
          <a:xfrm>
            <a:off x="5074100" y="1322313"/>
            <a:ext cx="956100" cy="268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Train-Val-Split</a:t>
            </a:r>
            <a:endParaRPr sz="800"/>
          </a:p>
        </p:txBody>
      </p:sp>
      <p:cxnSp>
        <p:nvCxnSpPr>
          <p:cNvPr id="92" name="Google Shape;92;p17"/>
          <p:cNvCxnSpPr>
            <a:stCxn id="89" idx="2"/>
            <a:endCxn id="91" idx="0"/>
          </p:cNvCxnSpPr>
          <p:nvPr/>
        </p:nvCxnSpPr>
        <p:spPr>
          <a:xfrm>
            <a:off x="5552150" y="1152463"/>
            <a:ext cx="0" cy="169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3" name="Google Shape;93;p17"/>
          <p:cNvSpPr/>
          <p:nvPr/>
        </p:nvSpPr>
        <p:spPr>
          <a:xfrm>
            <a:off x="5097425" y="1972963"/>
            <a:ext cx="956100" cy="268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Raw-Data</a:t>
            </a:r>
            <a:endParaRPr sz="800"/>
          </a:p>
        </p:txBody>
      </p:sp>
      <p:sp>
        <p:nvSpPr>
          <p:cNvPr id="94" name="Google Shape;94;p17"/>
          <p:cNvSpPr/>
          <p:nvPr/>
        </p:nvSpPr>
        <p:spPr>
          <a:xfrm>
            <a:off x="5101500" y="2411600"/>
            <a:ext cx="956100" cy="268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Train-Val-Split</a:t>
            </a:r>
            <a:endParaRPr sz="800"/>
          </a:p>
        </p:txBody>
      </p:sp>
      <p:cxnSp>
        <p:nvCxnSpPr>
          <p:cNvPr id="95" name="Google Shape;95;p17"/>
          <p:cNvCxnSpPr>
            <a:endCxn id="94" idx="0"/>
          </p:cNvCxnSpPr>
          <p:nvPr/>
        </p:nvCxnSpPr>
        <p:spPr>
          <a:xfrm flipH="1">
            <a:off x="5579550" y="2235200"/>
            <a:ext cx="6000" cy="17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" name="Google Shape;96;p17"/>
          <p:cNvSpPr/>
          <p:nvPr/>
        </p:nvSpPr>
        <p:spPr>
          <a:xfrm>
            <a:off x="5101500" y="2850250"/>
            <a:ext cx="956100" cy="268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SMOTE-Tomek</a:t>
            </a:r>
            <a:endParaRPr sz="800"/>
          </a:p>
        </p:txBody>
      </p:sp>
      <p:cxnSp>
        <p:nvCxnSpPr>
          <p:cNvPr id="97" name="Google Shape;97;p17"/>
          <p:cNvCxnSpPr>
            <a:stCxn id="94" idx="2"/>
            <a:endCxn id="96" idx="0"/>
          </p:cNvCxnSpPr>
          <p:nvPr/>
        </p:nvCxnSpPr>
        <p:spPr>
          <a:xfrm>
            <a:off x="5579550" y="2680400"/>
            <a:ext cx="0" cy="169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8" name="Google Shape;98;p17"/>
          <p:cNvSpPr/>
          <p:nvPr/>
        </p:nvSpPr>
        <p:spPr>
          <a:xfrm>
            <a:off x="5072063" y="3331075"/>
            <a:ext cx="956100" cy="268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Raw-Data</a:t>
            </a:r>
            <a:endParaRPr sz="800"/>
          </a:p>
        </p:txBody>
      </p:sp>
      <p:sp>
        <p:nvSpPr>
          <p:cNvPr id="99" name="Google Shape;99;p17"/>
          <p:cNvSpPr/>
          <p:nvPr/>
        </p:nvSpPr>
        <p:spPr>
          <a:xfrm>
            <a:off x="5076138" y="3769713"/>
            <a:ext cx="956100" cy="268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Train-Val-Split</a:t>
            </a:r>
            <a:endParaRPr sz="800"/>
          </a:p>
        </p:txBody>
      </p:sp>
      <p:cxnSp>
        <p:nvCxnSpPr>
          <p:cNvPr id="100" name="Google Shape;100;p17"/>
          <p:cNvCxnSpPr>
            <a:endCxn id="99" idx="0"/>
          </p:cNvCxnSpPr>
          <p:nvPr/>
        </p:nvCxnSpPr>
        <p:spPr>
          <a:xfrm flipH="1">
            <a:off x="5554188" y="3593313"/>
            <a:ext cx="6000" cy="17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1" name="Google Shape;101;p17"/>
          <p:cNvSpPr/>
          <p:nvPr/>
        </p:nvSpPr>
        <p:spPr>
          <a:xfrm>
            <a:off x="5076138" y="4208363"/>
            <a:ext cx="956100" cy="268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GAN</a:t>
            </a:r>
            <a:endParaRPr sz="800"/>
          </a:p>
        </p:txBody>
      </p:sp>
      <p:cxnSp>
        <p:nvCxnSpPr>
          <p:cNvPr id="102" name="Google Shape;102;p17"/>
          <p:cNvCxnSpPr>
            <a:stCxn id="99" idx="2"/>
            <a:endCxn id="101" idx="0"/>
          </p:cNvCxnSpPr>
          <p:nvPr/>
        </p:nvCxnSpPr>
        <p:spPr>
          <a:xfrm>
            <a:off x="5554188" y="4038513"/>
            <a:ext cx="0" cy="169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03" name="Google Shape;10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1175" y="2748800"/>
            <a:ext cx="3762201" cy="224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207791" y="237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MIT BIH Modeling</a:t>
            </a:r>
            <a:endParaRPr b="1" dirty="0"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1"/>
          </p:nvPr>
        </p:nvSpPr>
        <p:spPr>
          <a:xfrm>
            <a:off x="311700" y="810350"/>
            <a:ext cx="8520600" cy="3758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Missing a diagnosis (false negative) can be </a:t>
            </a:r>
            <a:r>
              <a:rPr lang="en-US" sz="1200" b="1" dirty="0">
                <a:solidFill>
                  <a:schemeClr val="tx1"/>
                </a:solidFill>
              </a:rPr>
              <a:t>fatal</a:t>
            </a:r>
            <a:endParaRPr lang="en-US" sz="12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False positives can be addressed with </a:t>
            </a:r>
            <a:r>
              <a:rPr lang="en-US" sz="1200" b="1" dirty="0">
                <a:solidFill>
                  <a:schemeClr val="tx1"/>
                </a:solidFill>
              </a:rPr>
              <a:t>follow-up tests</a:t>
            </a:r>
            <a:endParaRPr lang="en-US" sz="12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Imbalanced datasets</a:t>
            </a:r>
            <a:r>
              <a:rPr lang="en-US" sz="1200" dirty="0">
                <a:solidFill>
                  <a:schemeClr val="tx1"/>
                </a:solidFill>
              </a:rPr>
              <a:t> are common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Need benchmarks that aren't </a:t>
            </a:r>
            <a:r>
              <a:rPr lang="en-US" sz="1200" b="1" dirty="0">
                <a:solidFill>
                  <a:schemeClr val="tx1"/>
                </a:solidFill>
              </a:rPr>
              <a:t>skewed by the dominant class</a:t>
            </a:r>
            <a:endParaRPr lang="en-US" sz="12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Macro average recall</a:t>
            </a:r>
            <a:r>
              <a:rPr lang="en-US" sz="1200" dirty="0">
                <a:solidFill>
                  <a:schemeClr val="tx1"/>
                </a:solidFill>
              </a:rPr>
              <a:t> is chosen as the performance benchmark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Gives equal weight to each class, suitable for imbalanced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Using </a:t>
            </a:r>
            <a:r>
              <a:rPr lang="en-US" sz="1200" b="1" dirty="0" err="1">
                <a:solidFill>
                  <a:schemeClr val="tx1"/>
                </a:solidFill>
              </a:rPr>
              <a:t>XGBoost</a:t>
            </a:r>
            <a:r>
              <a:rPr lang="en-US" sz="1200" dirty="0">
                <a:solidFill>
                  <a:schemeClr val="tx1"/>
                </a:solidFill>
              </a:rPr>
              <a:t> with </a:t>
            </a:r>
            <a:r>
              <a:rPr lang="en-US" sz="1200" b="1" dirty="0" err="1">
                <a:solidFill>
                  <a:schemeClr val="tx1"/>
                </a:solidFill>
              </a:rPr>
              <a:t>RandomizedSearchCV</a:t>
            </a:r>
            <a:r>
              <a:rPr lang="en-US" sz="1200" b="1" dirty="0">
                <a:solidFill>
                  <a:schemeClr val="tx1"/>
                </a:solidFill>
              </a:rPr>
              <a:t> (30 iterations)</a:t>
            </a:r>
            <a:endParaRPr lang="en-US" sz="12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Achieved </a:t>
            </a:r>
            <a:r>
              <a:rPr lang="en-US" sz="1200" b="1" dirty="0">
                <a:solidFill>
                  <a:schemeClr val="tx1"/>
                </a:solidFill>
              </a:rPr>
              <a:t>macro average recall: 0.898</a:t>
            </a:r>
            <a:endParaRPr lang="en-US" sz="12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</a:rPr>
              <a:t>	</a:t>
            </a: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292" y="2834886"/>
            <a:ext cx="1628775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1659" y="2689612"/>
            <a:ext cx="3600450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/>
          <p:nvPr/>
        </p:nvSpPr>
        <p:spPr>
          <a:xfrm>
            <a:off x="5736267" y="3973709"/>
            <a:ext cx="532800" cy="207300"/>
          </a:xfrm>
          <a:prstGeom prst="ellipse">
            <a:avLst/>
          </a:prstGeom>
          <a:noFill/>
          <a:ln w="952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5093226" y="4125850"/>
            <a:ext cx="532800" cy="207300"/>
          </a:xfrm>
          <a:prstGeom prst="ellipse">
            <a:avLst/>
          </a:prstGeom>
          <a:noFill/>
          <a:ln w="952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>
            <a:spLocks noGrp="1"/>
          </p:cNvSpPr>
          <p:nvPr>
            <p:ph type="title"/>
          </p:nvPr>
        </p:nvSpPr>
        <p:spPr>
          <a:xfrm>
            <a:off x="145445" y="20675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MIT BIH Deep Learning Models</a:t>
            </a:r>
            <a:endParaRPr b="1" dirty="0"/>
          </a:p>
        </p:txBody>
      </p:sp>
      <p:sp>
        <p:nvSpPr>
          <p:cNvPr id="119" name="Google Shape;119;p19"/>
          <p:cNvSpPr txBox="1">
            <a:spLocks noGrp="1"/>
          </p:cNvSpPr>
          <p:nvPr>
            <p:ph type="body" idx="1"/>
          </p:nvPr>
        </p:nvSpPr>
        <p:spPr>
          <a:xfrm>
            <a:off x="571655" y="740634"/>
            <a:ext cx="7789200" cy="3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71600" lvl="0" indent="45720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 b="1" dirty="0"/>
              <a:t>CNN v1							CNN v2</a:t>
            </a:r>
            <a:endParaRPr sz="1300" b="1" dirty="0">
              <a:solidFill>
                <a:schemeClr val="dk1"/>
              </a:solidFill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1272405" y="4304897"/>
            <a:ext cx="2918400" cy="272100"/>
          </a:xfrm>
          <a:prstGeom prst="rect">
            <a:avLst/>
          </a:prstGeom>
          <a:solidFill>
            <a:srgbClr val="B2D9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 Conv</a:t>
            </a:r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1272405" y="3422253"/>
            <a:ext cx="2918400" cy="272100"/>
          </a:xfrm>
          <a:prstGeom prst="rect">
            <a:avLst/>
          </a:prstGeom>
          <a:solidFill>
            <a:srgbClr val="B2D9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Conv</a:t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1272405" y="2539593"/>
            <a:ext cx="2918400" cy="272100"/>
          </a:xfrm>
          <a:prstGeom prst="rect">
            <a:avLst/>
          </a:prstGeom>
          <a:solidFill>
            <a:srgbClr val="B2D9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Conv</a:t>
            </a:r>
            <a:endParaRPr/>
          </a:p>
        </p:txBody>
      </p:sp>
      <p:sp>
        <p:nvSpPr>
          <p:cNvPr id="123" name="Google Shape;123;p19"/>
          <p:cNvSpPr/>
          <p:nvPr/>
        </p:nvSpPr>
        <p:spPr>
          <a:xfrm>
            <a:off x="1272405" y="1650045"/>
            <a:ext cx="2918400" cy="279000"/>
          </a:xfrm>
          <a:prstGeom prst="rect">
            <a:avLst/>
          </a:prstGeom>
          <a:solidFill>
            <a:srgbClr val="B2D9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AvePool</a:t>
            </a:r>
            <a:endParaRPr/>
          </a:p>
        </p:txBody>
      </p:sp>
      <p:sp>
        <p:nvSpPr>
          <p:cNvPr id="124" name="Google Shape;124;p19"/>
          <p:cNvSpPr/>
          <p:nvPr/>
        </p:nvSpPr>
        <p:spPr>
          <a:xfrm>
            <a:off x="1272405" y="1205271"/>
            <a:ext cx="2918400" cy="279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FC</a:t>
            </a:r>
            <a:endParaRPr/>
          </a:p>
        </p:txBody>
      </p:sp>
      <p:sp>
        <p:nvSpPr>
          <p:cNvPr id="125" name="Google Shape;125;p19"/>
          <p:cNvSpPr/>
          <p:nvPr/>
        </p:nvSpPr>
        <p:spPr>
          <a:xfrm>
            <a:off x="1272405" y="3860114"/>
            <a:ext cx="2918400" cy="279000"/>
          </a:xfrm>
          <a:prstGeom prst="rect">
            <a:avLst/>
          </a:prstGeom>
          <a:solidFill>
            <a:srgbClr val="66B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 Pool</a:t>
            </a:r>
            <a:endParaRPr/>
          </a:p>
        </p:txBody>
      </p:sp>
      <p:sp>
        <p:nvSpPr>
          <p:cNvPr id="126" name="Google Shape;126;p19"/>
          <p:cNvSpPr/>
          <p:nvPr/>
        </p:nvSpPr>
        <p:spPr>
          <a:xfrm>
            <a:off x="1272405" y="2977479"/>
            <a:ext cx="2918400" cy="279000"/>
          </a:xfrm>
          <a:prstGeom prst="rect">
            <a:avLst/>
          </a:prstGeom>
          <a:solidFill>
            <a:srgbClr val="66B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 Pool</a:t>
            </a:r>
            <a:endParaRPr/>
          </a:p>
        </p:txBody>
      </p:sp>
      <p:sp>
        <p:nvSpPr>
          <p:cNvPr id="127" name="Google Shape;127;p19"/>
          <p:cNvSpPr/>
          <p:nvPr/>
        </p:nvSpPr>
        <p:spPr>
          <a:xfrm>
            <a:off x="1272405" y="2094819"/>
            <a:ext cx="2918400" cy="279000"/>
          </a:xfrm>
          <a:prstGeom prst="rect">
            <a:avLst/>
          </a:prstGeom>
          <a:solidFill>
            <a:srgbClr val="66B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 Pool</a:t>
            </a:r>
            <a:endParaRPr/>
          </a:p>
        </p:txBody>
      </p:sp>
      <p:cxnSp>
        <p:nvCxnSpPr>
          <p:cNvPr id="128" name="Google Shape;128;p19"/>
          <p:cNvCxnSpPr>
            <a:stCxn id="120" idx="0"/>
            <a:endCxn id="125" idx="2"/>
          </p:cNvCxnSpPr>
          <p:nvPr/>
        </p:nvCxnSpPr>
        <p:spPr>
          <a:xfrm rot="10800000">
            <a:off x="2731605" y="4138997"/>
            <a:ext cx="0" cy="16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9" name="Google Shape;129;p19"/>
          <p:cNvCxnSpPr/>
          <p:nvPr/>
        </p:nvCxnSpPr>
        <p:spPr>
          <a:xfrm rot="10800000">
            <a:off x="2731605" y="3697734"/>
            <a:ext cx="0" cy="16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0" name="Google Shape;130;p19"/>
          <p:cNvCxnSpPr/>
          <p:nvPr/>
        </p:nvCxnSpPr>
        <p:spPr>
          <a:xfrm rot="10800000">
            <a:off x="2731605" y="3252959"/>
            <a:ext cx="0" cy="16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" name="Google Shape;131;p19"/>
          <p:cNvCxnSpPr/>
          <p:nvPr/>
        </p:nvCxnSpPr>
        <p:spPr>
          <a:xfrm rot="10800000">
            <a:off x="2731605" y="2815084"/>
            <a:ext cx="0" cy="16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2" name="Google Shape;132;p19"/>
          <p:cNvCxnSpPr/>
          <p:nvPr/>
        </p:nvCxnSpPr>
        <p:spPr>
          <a:xfrm rot="10800000">
            <a:off x="2731605" y="2370309"/>
            <a:ext cx="0" cy="16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" name="Google Shape;133;p19"/>
          <p:cNvCxnSpPr/>
          <p:nvPr/>
        </p:nvCxnSpPr>
        <p:spPr>
          <a:xfrm rot="10800000">
            <a:off x="2731605" y="1928984"/>
            <a:ext cx="0" cy="16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4" name="Google Shape;134;p19"/>
          <p:cNvCxnSpPr/>
          <p:nvPr/>
        </p:nvCxnSpPr>
        <p:spPr>
          <a:xfrm rot="10800000">
            <a:off x="2731605" y="1499447"/>
            <a:ext cx="0" cy="16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5" name="Google Shape;135;p19"/>
          <p:cNvSpPr/>
          <p:nvPr/>
        </p:nvSpPr>
        <p:spPr>
          <a:xfrm>
            <a:off x="5040580" y="1403446"/>
            <a:ext cx="2918400" cy="279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Dropout</a:t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5080430" y="3196421"/>
            <a:ext cx="2918400" cy="279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 Norm</a:t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5080430" y="4138996"/>
            <a:ext cx="2918400" cy="279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 Norm</a:t>
            </a:r>
            <a:endParaRPr/>
          </a:p>
        </p:txBody>
      </p:sp>
      <p:sp>
        <p:nvSpPr>
          <p:cNvPr id="138" name="Google Shape;138;p19"/>
          <p:cNvSpPr/>
          <p:nvPr/>
        </p:nvSpPr>
        <p:spPr>
          <a:xfrm>
            <a:off x="5080430" y="2313771"/>
            <a:ext cx="2918400" cy="279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 Norm</a:t>
            </a:r>
            <a:endParaRPr/>
          </a:p>
        </p:txBody>
      </p:sp>
      <p:cxnSp>
        <p:nvCxnSpPr>
          <p:cNvPr id="139" name="Google Shape;139;p19"/>
          <p:cNvCxnSpPr/>
          <p:nvPr/>
        </p:nvCxnSpPr>
        <p:spPr>
          <a:xfrm rot="10800000">
            <a:off x="4109455" y="2455646"/>
            <a:ext cx="952800" cy="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0" name="Google Shape;140;p19"/>
          <p:cNvCxnSpPr/>
          <p:nvPr/>
        </p:nvCxnSpPr>
        <p:spPr>
          <a:xfrm rot="10800000">
            <a:off x="4109455" y="1566096"/>
            <a:ext cx="952800" cy="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1" name="Google Shape;141;p19"/>
          <p:cNvCxnSpPr/>
          <p:nvPr/>
        </p:nvCxnSpPr>
        <p:spPr>
          <a:xfrm rot="10800000">
            <a:off x="4109455" y="3338309"/>
            <a:ext cx="952800" cy="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2" name="Google Shape;142;p19"/>
          <p:cNvCxnSpPr/>
          <p:nvPr/>
        </p:nvCxnSpPr>
        <p:spPr>
          <a:xfrm rot="10800000">
            <a:off x="4109455" y="4220959"/>
            <a:ext cx="952800" cy="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MIT BIH Deep Learning Models</a:t>
            </a:r>
            <a:endParaRPr b="1" dirty="0"/>
          </a:p>
        </p:txBody>
      </p:sp>
      <p:sp>
        <p:nvSpPr>
          <p:cNvPr id="148" name="Google Shape;148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549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71450" lvl="0" indent="-1714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" sz="1400" dirty="0">
                <a:solidFill>
                  <a:schemeClr val="tx1"/>
                </a:solidFill>
              </a:rPr>
              <a:t>Converted standard Residual Network 18 into 1 dimensional.</a:t>
            </a:r>
            <a:endParaRPr sz="1400" dirty="0">
              <a:solidFill>
                <a:schemeClr val="tx1"/>
              </a:solidFill>
            </a:endParaRPr>
          </a:p>
          <a:p>
            <a:pPr marL="171450" lvl="0" indent="-171450" algn="l" rtl="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" sz="1400" dirty="0">
                <a:solidFill>
                  <a:schemeClr val="tx1"/>
                </a:solidFill>
              </a:rPr>
              <a:t>Added a dropout (0.5) layer between “Global AvePool” and “FC” to prevent overfitting</a:t>
            </a:r>
            <a:endParaRPr sz="1400" dirty="0">
              <a:solidFill>
                <a:schemeClr val="tx1"/>
              </a:solidFill>
            </a:endParaRPr>
          </a:p>
        </p:txBody>
      </p:sp>
      <p:pic>
        <p:nvPicPr>
          <p:cNvPr id="149" name="Google Shape;149;p20" title="resnet-blo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4725" y="896075"/>
            <a:ext cx="3601600" cy="227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0" title="resnet18-9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163" y="3176000"/>
            <a:ext cx="5667375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b="1" dirty="0"/>
              <a:t>MIT BIH Deep Learning Models Comparison</a:t>
            </a:r>
            <a:endParaRPr b="1" dirty="0"/>
          </a:p>
        </p:txBody>
      </p:sp>
      <p:graphicFrame>
        <p:nvGraphicFramePr>
          <p:cNvPr id="156" name="Google Shape;156;p21"/>
          <p:cNvGraphicFramePr/>
          <p:nvPr/>
        </p:nvGraphicFramePr>
        <p:xfrm>
          <a:off x="3017550" y="1152475"/>
          <a:ext cx="5429250" cy="1584840"/>
        </p:xfrm>
        <a:graphic>
          <a:graphicData uri="http://schemas.openxmlformats.org/drawingml/2006/table">
            <a:tbl>
              <a:tblPr>
                <a:noFill/>
                <a:tableStyleId>{901C7660-DE01-4B59-B7BE-A7B3ABD46802}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 recall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CNN v1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0.828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0.976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CNN v2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0.981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ResNet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0.985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7" name="Google Shape;157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457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25" dirty="0">
                <a:solidFill>
                  <a:schemeClr val="tx1"/>
                </a:solidFill>
              </a:rPr>
              <a:t>Performance on Validation Dataset</a:t>
            </a:r>
            <a:endParaRPr sz="1825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1825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25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25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25" dirty="0">
                <a:solidFill>
                  <a:schemeClr val="tx1"/>
                </a:solidFill>
              </a:rPr>
              <a:t>Performance on Test Dataset</a:t>
            </a:r>
            <a:endParaRPr sz="1825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solidFill>
                <a:schemeClr val="tx1"/>
              </a:solidFill>
            </a:endParaRPr>
          </a:p>
        </p:txBody>
      </p:sp>
      <p:graphicFrame>
        <p:nvGraphicFramePr>
          <p:cNvPr id="158" name="Google Shape;158;p21"/>
          <p:cNvGraphicFramePr/>
          <p:nvPr/>
        </p:nvGraphicFramePr>
        <p:xfrm>
          <a:off x="3017550" y="3207400"/>
          <a:ext cx="5429250" cy="1225950"/>
        </p:xfrm>
        <a:graphic>
          <a:graphicData uri="http://schemas.openxmlformats.org/drawingml/2006/table">
            <a:tbl>
              <a:tblPr>
                <a:noFill/>
                <a:tableStyleId>{901C7660-DE01-4B59-B7BE-A7B3ABD46802}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8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 recall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ResNet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0.919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0.982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XGBoost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0.925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MIT BIH Confusion Matrix</a:t>
            </a:r>
            <a:endParaRPr b="1" dirty="0"/>
          </a:p>
        </p:txBody>
      </p:sp>
      <p:pic>
        <p:nvPicPr>
          <p:cNvPr id="164" name="Google Shape;16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525" y="1459600"/>
            <a:ext cx="4290100" cy="321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4025" y="1504975"/>
            <a:ext cx="4177575" cy="311996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2"/>
          <p:cNvSpPr/>
          <p:nvPr/>
        </p:nvSpPr>
        <p:spPr>
          <a:xfrm>
            <a:off x="5988600" y="1838050"/>
            <a:ext cx="2796900" cy="223800"/>
          </a:xfrm>
          <a:prstGeom prst="ellipse">
            <a:avLst/>
          </a:prstGeom>
          <a:noFill/>
          <a:ln w="952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/>
        </p:nvSpPr>
        <p:spPr>
          <a:xfrm>
            <a:off x="365067" y="164775"/>
            <a:ext cx="6541423" cy="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PTB Dataset Overview</a:t>
            </a:r>
          </a:p>
          <a:p>
            <a:pPr marL="15875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"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298450" algn="ctr">
              <a:buClr>
                <a:schemeClr val="dk1"/>
              </a:buClr>
              <a:buSzPts val="1100"/>
              <a:buFont typeface="Arial"/>
              <a:buChar char="●"/>
            </a:pPr>
            <a:r>
              <a:rPr lang="de-DE" sz="18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ptbdb_abnormal.csv</a:t>
            </a:r>
            <a:r>
              <a:rPr lang="de-DE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Abnormal ECG </a:t>
            </a:r>
            <a:r>
              <a:rPr lang="de-DE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samples</a:t>
            </a:r>
            <a:r>
              <a:rPr lang="de-DE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457200" lvl="0" indent="-2984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ptbdb_normal.csv</a:t>
            </a:r>
            <a:r>
              <a:rPr lang="en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Normal ECG samples.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67450"/>
            <a:ext cx="4491892" cy="281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8050" y="2077505"/>
            <a:ext cx="4635950" cy="276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" name="Google Shape;178;p24"/>
          <p:cNvGraphicFramePr/>
          <p:nvPr>
            <p:extLst>
              <p:ext uri="{D42A27DB-BD31-4B8C-83A1-F6EECF244321}">
                <p14:modId xmlns:p14="http://schemas.microsoft.com/office/powerpoint/2010/main" val="3088692765"/>
              </p:ext>
            </p:extLst>
          </p:nvPr>
        </p:nvGraphicFramePr>
        <p:xfrm>
          <a:off x="3003295" y="1080520"/>
          <a:ext cx="5943600" cy="3533775"/>
        </p:xfrm>
        <a:graphic>
          <a:graphicData uri="http://schemas.openxmlformats.org/drawingml/2006/table">
            <a:tbl>
              <a:tblPr>
                <a:noFill/>
                <a:tableStyleId>{4BE70DB3-858B-48B7-92F7-4521B643A240}</a:tableStyleId>
              </a:tblPr>
              <a:tblGrid>
                <a:gridCol w="147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Model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Best Parameters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Best Score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max_depth</a:t>
                      </a: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15, </a:t>
                      </a:r>
                      <a:r>
                        <a:rPr lang="en" sz="1000" b="1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min_samples_split</a:t>
                      </a: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2, </a:t>
                      </a:r>
                      <a:r>
                        <a:rPr lang="en" sz="1000" b="1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n_estimators</a:t>
                      </a: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200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0.9659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SVM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r>
                        <a:rPr lang="en" sz="10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10, </a:t>
                      </a:r>
                      <a:r>
                        <a:rPr lang="en" sz="1000" b="1" dirty="0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gamma</a:t>
                      </a:r>
                      <a:r>
                        <a:rPr lang="en" sz="10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'scale', </a:t>
                      </a:r>
                      <a:r>
                        <a:rPr lang="en" sz="1000" b="1" dirty="0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kernel</a:t>
                      </a:r>
                      <a:r>
                        <a:rPr lang="en" sz="10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'rbf'</a:t>
                      </a:r>
                      <a:endParaRPr sz="10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0.9531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1, </a:t>
                      </a:r>
                      <a:r>
                        <a:rPr lang="en" sz="1000" b="1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solver</a:t>
                      </a: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'liblinear'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0.8236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learning_rate</a:t>
                      </a: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0.2, </a:t>
                      </a:r>
                      <a:r>
                        <a:rPr lang="en" sz="1000" b="1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max_depth</a:t>
                      </a: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7, </a:t>
                      </a:r>
                      <a:r>
                        <a:rPr lang="en" sz="1000" b="1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n_estimators</a:t>
                      </a: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200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0.9781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K-Nearest Neighbors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n_neighbors</a:t>
                      </a: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3, </a:t>
                      </a:r>
                      <a:r>
                        <a:rPr lang="en" sz="1000" b="1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weights</a:t>
                      </a: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'distance'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0.9274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learning_rate</a:t>
                      </a: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0.2, </a:t>
                      </a:r>
                      <a:r>
                        <a:rPr lang="en" sz="1000" b="1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max_depth</a:t>
                      </a: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7, </a:t>
                      </a:r>
                      <a:r>
                        <a:rPr lang="en" sz="1000" b="1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n_estimators</a:t>
                      </a: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200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0.9795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AdaBoost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learning_rate</a:t>
                      </a: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1, </a:t>
                      </a:r>
                      <a:r>
                        <a:rPr lang="en" sz="1000" b="1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n_estimators</a:t>
                      </a: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200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0.8962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Tree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max_depth</a:t>
                      </a: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15, </a:t>
                      </a:r>
                      <a:r>
                        <a:rPr lang="en" sz="1000" b="1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min_samples_split</a:t>
                      </a: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2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0.9176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CatBoost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depth</a:t>
                      </a: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7, </a:t>
                      </a:r>
                      <a:r>
                        <a:rPr lang="en" sz="1000" b="1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iterations</a:t>
                      </a: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200, </a:t>
                      </a:r>
                      <a:r>
                        <a:rPr lang="en" sz="1000" b="1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learning_rate</a:t>
                      </a:r>
                      <a:r>
                        <a:rPr lang="en" sz="10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0.1</a:t>
                      </a:r>
                      <a:endParaRPr sz="10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0.9777</a:t>
                      </a:r>
                      <a:endParaRPr sz="10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9" name="Google Shape;179;p24"/>
          <p:cNvSpPr txBox="1"/>
          <p:nvPr/>
        </p:nvSpPr>
        <p:spPr>
          <a:xfrm>
            <a:off x="177295" y="788657"/>
            <a:ext cx="2826000" cy="41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⚙️🧮 Feature Scaling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Applied </a:t>
            </a:r>
            <a:r>
              <a:rPr lang="en" sz="1100" b="1" dirty="0">
                <a:solidFill>
                  <a:schemeClr val="dk1"/>
                </a:solidFill>
              </a:rPr>
              <a:t>StandardScaler</a:t>
            </a:r>
            <a:r>
              <a:rPr lang="en" sz="1100" dirty="0">
                <a:solidFill>
                  <a:schemeClr val="dk1"/>
                </a:solidFill>
              </a:rPr>
              <a:t> to normalize input features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🧵 Model Structure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All models were implemented using </a:t>
            </a: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Pipeline</a:t>
            </a:r>
            <a:r>
              <a:rPr lang="en" sz="1100" dirty="0">
                <a:solidFill>
                  <a:schemeClr val="dk1"/>
                </a:solidFill>
              </a:rPr>
              <a:t> to streamline preprocessing and training steps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🔍 Hyperparameter Tuning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GridSearchCV</a:t>
            </a:r>
            <a:r>
              <a:rPr lang="en" sz="1100" dirty="0">
                <a:solidFill>
                  <a:schemeClr val="dk1"/>
                </a:solidFill>
              </a:rPr>
              <a:t> was used to perform </a:t>
            </a:r>
            <a:r>
              <a:rPr lang="en" sz="1100" b="1" dirty="0">
                <a:solidFill>
                  <a:schemeClr val="dk1"/>
                </a:solidFill>
              </a:rPr>
              <a:t>exhaustive search</a:t>
            </a:r>
            <a:r>
              <a:rPr lang="en" sz="1100" dirty="0">
                <a:solidFill>
                  <a:schemeClr val="dk1"/>
                </a:solidFill>
              </a:rPr>
              <a:t> over specified parameter grids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Ensured </a:t>
            </a:r>
            <a:r>
              <a:rPr lang="en" sz="1100" b="1" dirty="0">
                <a:solidFill>
                  <a:schemeClr val="dk1"/>
                </a:solidFill>
              </a:rPr>
              <a:t>optimal model configuration</a:t>
            </a:r>
            <a:r>
              <a:rPr lang="en" sz="1100" dirty="0">
                <a:solidFill>
                  <a:schemeClr val="dk1"/>
                </a:solidFill>
              </a:rPr>
              <a:t> through cross-validation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8F2E17-116E-3938-D463-BB6E352D2B3C}"/>
              </a:ext>
            </a:extLst>
          </p:cNvPr>
          <p:cNvSpPr txBox="1"/>
          <p:nvPr/>
        </p:nvSpPr>
        <p:spPr>
          <a:xfrm>
            <a:off x="290945" y="221673"/>
            <a:ext cx="5569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err="1">
                <a:solidFill>
                  <a:schemeClr val="dk1"/>
                </a:solidFill>
              </a:rPr>
              <a:t>Preprocessing</a:t>
            </a:r>
            <a:r>
              <a:rPr lang="de-DE" sz="2800" b="1" dirty="0">
                <a:solidFill>
                  <a:schemeClr val="dk1"/>
                </a:solidFill>
              </a:rPr>
              <a:t> &amp; Model Tuning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/>
        </p:nvSpPr>
        <p:spPr>
          <a:xfrm>
            <a:off x="366324" y="982100"/>
            <a:ext cx="4859400" cy="3908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✅ Models Used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CNN v1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CNN v2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ResNet1D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📚 Original Dataset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MIT-BIH Arrhythmia Dataset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🧪 Adapted To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PTB Diagnostic ECG Dataset Model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🔧 Key Modification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Output layer adjusted to </a:t>
            </a:r>
            <a:r>
              <a:rPr lang="en" sz="1100" b="1" dirty="0">
                <a:solidFill>
                  <a:schemeClr val="dk1"/>
                </a:solidFill>
              </a:rPr>
              <a:t>2 classes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</a:t>
            </a:r>
            <a:r>
              <a:rPr lang="en" sz="1100" i="1" dirty="0">
                <a:solidFill>
                  <a:schemeClr val="dk1"/>
                </a:solidFill>
              </a:rPr>
              <a:t>(for binary classification task in PTB dataset)</a:t>
            </a:r>
            <a:br>
              <a:rPr lang="en" sz="1100" i="1" dirty="0">
                <a:solidFill>
                  <a:schemeClr val="dk1"/>
                </a:solidFill>
              </a:rPr>
            </a:br>
            <a:endParaRPr sz="1100" i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🚀 Performance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All adapted models showed </a:t>
            </a:r>
            <a:r>
              <a:rPr lang="en" sz="1100" b="1" dirty="0">
                <a:solidFill>
                  <a:schemeClr val="dk1"/>
                </a:solidFill>
              </a:rPr>
              <a:t>strong performance</a:t>
            </a:r>
            <a:r>
              <a:rPr lang="en" sz="1100" dirty="0">
                <a:solidFill>
                  <a:schemeClr val="dk1"/>
                </a:solidFill>
              </a:rPr>
              <a:t> on the PTB dataset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A56C6E-15D8-288D-E9BD-FAF2BD90F069}"/>
              </a:ext>
            </a:extLst>
          </p:cNvPr>
          <p:cNvSpPr txBox="1"/>
          <p:nvPr/>
        </p:nvSpPr>
        <p:spPr>
          <a:xfrm>
            <a:off x="248561" y="252668"/>
            <a:ext cx="7787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chemeClr val="dk1"/>
                </a:solidFill>
              </a:rPr>
              <a:t> Deep Learning Model Adaptation Summary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" name="Google Shape;184;p25"/>
          <p:cNvGraphicFramePr/>
          <p:nvPr>
            <p:extLst>
              <p:ext uri="{D42A27DB-BD31-4B8C-83A1-F6EECF244321}">
                <p14:modId xmlns:p14="http://schemas.microsoft.com/office/powerpoint/2010/main" val="111273679"/>
              </p:ext>
            </p:extLst>
          </p:nvPr>
        </p:nvGraphicFramePr>
        <p:xfrm>
          <a:off x="5424399" y="3070948"/>
          <a:ext cx="2614033" cy="1767840"/>
        </p:xfrm>
        <a:graphic>
          <a:graphicData uri="http://schemas.openxmlformats.org/drawingml/2006/table">
            <a:tbl>
              <a:tblPr>
                <a:noFill/>
                <a:tableStyleId>{4BE70DB3-858B-48B7-92F7-4521B643A240}</a:tableStyleId>
              </a:tblPr>
              <a:tblGrid>
                <a:gridCol w="1292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1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60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Macro Avg Recall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60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60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0.980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60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CNN v1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60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CNN v2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60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ResNet1D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0.991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A6BC0E9A-17C2-CDBF-EFD2-EB4AC5D32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56" y="834250"/>
            <a:ext cx="2351982" cy="20836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5A681D-B526-575D-4393-E11AFEBD02E5}"/>
              </a:ext>
            </a:extLst>
          </p:cNvPr>
          <p:cNvSpPr txBox="1"/>
          <p:nvPr/>
        </p:nvSpPr>
        <p:spPr>
          <a:xfrm>
            <a:off x="817418" y="526473"/>
            <a:ext cx="1770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Gradient Boosting</a:t>
            </a:r>
            <a:endParaRPr lang="de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07EEC7-6BA9-A5A0-0F04-67F5BA95D6BA}"/>
              </a:ext>
            </a:extLst>
          </p:cNvPr>
          <p:cNvSpPr txBox="1"/>
          <p:nvPr/>
        </p:nvSpPr>
        <p:spPr>
          <a:xfrm>
            <a:off x="3117273" y="526473"/>
            <a:ext cx="1770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XGBoost</a:t>
            </a:r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93EB2A-88EF-7714-1CDA-C99F87BFF331}"/>
              </a:ext>
            </a:extLst>
          </p:cNvPr>
          <p:cNvSpPr txBox="1"/>
          <p:nvPr/>
        </p:nvSpPr>
        <p:spPr>
          <a:xfrm>
            <a:off x="5639791" y="526473"/>
            <a:ext cx="809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CNN v1</a:t>
            </a:r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702B42-2ED2-DE71-0D91-025FCD063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237" y="843991"/>
            <a:ext cx="2307856" cy="21278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D16182-D2CB-D156-85C2-148340F6148A}"/>
              </a:ext>
            </a:extLst>
          </p:cNvPr>
          <p:cNvSpPr txBox="1"/>
          <p:nvPr/>
        </p:nvSpPr>
        <p:spPr>
          <a:xfrm>
            <a:off x="644062" y="3070948"/>
            <a:ext cx="809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CNN v2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5E077A-1FFB-5C68-7ACE-26AFAE4A650F}"/>
              </a:ext>
            </a:extLst>
          </p:cNvPr>
          <p:cNvSpPr txBox="1"/>
          <p:nvPr/>
        </p:nvSpPr>
        <p:spPr>
          <a:xfrm>
            <a:off x="2663349" y="3092928"/>
            <a:ext cx="10407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ResNet1D</a:t>
            </a:r>
            <a:endParaRPr lang="de-D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2B9CEA-267E-4FD3-7538-6568700AE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0649" y="823777"/>
            <a:ext cx="2099023" cy="19491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981C1C-844A-F124-5410-0D474CB4C3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062" y="3378725"/>
            <a:ext cx="2050357" cy="16334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3830D4C-15F5-2782-CAD9-1474AD75B5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5235" y="3372189"/>
            <a:ext cx="1988348" cy="15845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40880C7-58AB-5D7C-77CA-38B6E9CAA4FE}"/>
              </a:ext>
            </a:extLst>
          </p:cNvPr>
          <p:cNvSpPr txBox="1"/>
          <p:nvPr/>
        </p:nvSpPr>
        <p:spPr>
          <a:xfrm>
            <a:off x="200717" y="42715"/>
            <a:ext cx="6719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chemeClr val="dk1"/>
                </a:solidFill>
              </a:rPr>
              <a:t>Model Outcome </a:t>
            </a:r>
            <a:r>
              <a:rPr lang="de-DE" sz="2800" b="1" dirty="0" err="1">
                <a:solidFill>
                  <a:schemeClr val="dk1"/>
                </a:solidFill>
              </a:rPr>
              <a:t>Comparison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176923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="1"/>
              <a:t>Conclusion and future work</a:t>
            </a:r>
            <a:endParaRPr lang="de-DE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5944F-7C6A-5810-E7E1-9B2B7DB9F3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28569" y="1914286"/>
            <a:ext cx="674575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Attention + LSTM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temporal feature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</a:t>
            </a:r>
            <a:endParaRPr kumimoji="0" lang="de-DE" altLang="de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SMOTE-Tomek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pairs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well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ensemble</a:t>
            </a: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tree</a:t>
            </a: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endParaRPr kumimoji="0" lang="de-DE" altLang="de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GAN </a:t>
            </a:r>
            <a:r>
              <a:rPr kumimoji="0" lang="de-DE" altLang="de-DE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augmentation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performs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neural</a:t>
            </a: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networks</a:t>
            </a:r>
            <a:endParaRPr kumimoji="0" lang="de-DE" altLang="de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Ensemble </a:t>
            </a:r>
            <a:r>
              <a:rPr kumimoji="0" lang="de-DE" altLang="de-DE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trees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but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plateaued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</a:t>
            </a: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~90% </a:t>
            </a:r>
            <a:r>
              <a:rPr kumimoji="0" lang="de-DE" altLang="de-DE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macro</a:t>
            </a: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</a:t>
            </a:r>
            <a:endParaRPr kumimoji="0" lang="de-DE" altLang="de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de-DE" altLang="de-DE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GridSearchCV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GPU vs. </a:t>
            </a:r>
            <a:r>
              <a:rPr kumimoji="0" lang="de-DE" altLang="de-DE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PyTorch-based</a:t>
            </a: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</a:t>
            </a:r>
            <a:endParaRPr kumimoji="0" lang="de-DE" altLang="de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de-DE" altLang="de-DE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ResNet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significantly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outperforms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CNNs in </a:t>
            </a:r>
            <a:r>
              <a:rPr kumimoji="0" lang="de-DE" altLang="de-DE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de-DE" altLang="de-DE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endParaRPr kumimoji="0" lang="de-DE" altLang="de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A8A48E-317F-F99E-AFBA-FBF626824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54" y="1779653"/>
            <a:ext cx="8188037" cy="158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53593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794</Words>
  <Application>Microsoft Office PowerPoint</Application>
  <PresentationFormat>On-screen Show (16:9)</PresentationFormat>
  <Paragraphs>198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Agency FB</vt:lpstr>
      <vt:lpstr>Wingdings</vt:lpstr>
      <vt:lpstr>Roboto Mono</vt:lpstr>
      <vt:lpstr>Arial</vt:lpstr>
      <vt:lpstr>Simple Light</vt:lpstr>
      <vt:lpstr>PowerPoint Presentation</vt:lpstr>
      <vt:lpstr>Project Overview</vt:lpstr>
      <vt:lpstr>MIT BIH Data Preprocessing</vt:lpstr>
      <vt:lpstr>MIT BIH Data Intuition</vt:lpstr>
      <vt:lpstr>MIT BIH Resampling</vt:lpstr>
      <vt:lpstr>MIT BIH Modeling</vt:lpstr>
      <vt:lpstr>MIT BIH Deep Learning Models</vt:lpstr>
      <vt:lpstr>MIT BIH Deep Learning Models</vt:lpstr>
      <vt:lpstr>MIT BIH Deep Learning Models Comparison</vt:lpstr>
      <vt:lpstr>MIT BIH Confusion Matrix</vt:lpstr>
      <vt:lpstr>PowerPoint Presentation</vt:lpstr>
      <vt:lpstr>PowerPoint Presentation</vt:lpstr>
      <vt:lpstr>PowerPoint Presentation</vt:lpstr>
      <vt:lpstr>PowerPoint Presentation</vt:lpstr>
      <vt:lpstr>Conclusion and future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Saikot Das Joy</cp:lastModifiedBy>
  <cp:revision>2</cp:revision>
  <dcterms:modified xsi:type="dcterms:W3CDTF">2025-05-18T14:42:18Z</dcterms:modified>
</cp:coreProperties>
</file>